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9" r:id="rId3"/>
    <p:sldId id="257" r:id="rId4"/>
    <p:sldId id="258" r:id="rId5"/>
    <p:sldId id="259" r:id="rId6"/>
    <p:sldId id="260" r:id="rId7"/>
    <p:sldId id="261" r:id="rId8"/>
    <p:sldId id="262" r:id="rId9"/>
    <p:sldId id="263" r:id="rId10"/>
    <p:sldId id="265" r:id="rId11"/>
    <p:sldId id="267" r:id="rId12"/>
    <p:sldId id="266" r:id="rId13"/>
    <p:sldId id="268" r:id="rId14"/>
    <p:sldId id="26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0D345F-1C09-40F3-8673-58E370E3FD0D}" v="2" dt="2025-04-09T07:26:32.2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388" autoAdjust="0"/>
  </p:normalViewPr>
  <p:slideViewPr>
    <p:cSldViewPr snapToGrid="0">
      <p:cViewPr varScale="1">
        <p:scale>
          <a:sx n="77" d="100"/>
          <a:sy n="77" d="100"/>
        </p:scale>
        <p:origin x="77" y="1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Victor Chavala" userId="2eea2e8a6b2ddcd2" providerId="LiveId" clId="{D70D345F-1C09-40F3-8673-58E370E3FD0D}"/>
    <pc:docChg chg="custSel addSld modSld">
      <pc:chgData name="John Victor Chavala" userId="2eea2e8a6b2ddcd2" providerId="LiveId" clId="{D70D345F-1C09-40F3-8673-58E370E3FD0D}" dt="2025-04-09T08:39:51.315" v="67" actId="1036"/>
      <pc:docMkLst>
        <pc:docMk/>
      </pc:docMkLst>
      <pc:sldChg chg="modSp mod">
        <pc:chgData name="John Victor Chavala" userId="2eea2e8a6b2ddcd2" providerId="LiveId" clId="{D70D345F-1C09-40F3-8673-58E370E3FD0D}" dt="2025-04-09T08:39:51.315" v="67" actId="1036"/>
        <pc:sldMkLst>
          <pc:docMk/>
          <pc:sldMk cId="1609084687" sldId="256"/>
        </pc:sldMkLst>
        <pc:spChg chg="mod">
          <ac:chgData name="John Victor Chavala" userId="2eea2e8a6b2ddcd2" providerId="LiveId" clId="{D70D345F-1C09-40F3-8673-58E370E3FD0D}" dt="2025-04-09T08:39:51.315" v="67" actId="1036"/>
          <ac:spMkLst>
            <pc:docMk/>
            <pc:sldMk cId="1609084687" sldId="256"/>
            <ac:spMk id="7" creationId="{2A85E2EA-6F42-9411-7653-73E16E8CE990}"/>
          </ac:spMkLst>
        </pc:spChg>
      </pc:sldChg>
      <pc:sldChg chg="addSp delSp modSp mod chgLayout">
        <pc:chgData name="John Victor Chavala" userId="2eea2e8a6b2ddcd2" providerId="LiveId" clId="{D70D345F-1C09-40F3-8673-58E370E3FD0D}" dt="2025-04-09T08:23:24.366" v="48" actId="115"/>
        <pc:sldMkLst>
          <pc:docMk/>
          <pc:sldMk cId="2172684573" sldId="257"/>
        </pc:sldMkLst>
        <pc:spChg chg="add del mod">
          <ac:chgData name="John Victor Chavala" userId="2eea2e8a6b2ddcd2" providerId="LiveId" clId="{D70D345F-1C09-40F3-8673-58E370E3FD0D}" dt="2025-04-09T04:20:38.679" v="13" actId="21"/>
          <ac:spMkLst>
            <pc:docMk/>
            <pc:sldMk cId="2172684573" sldId="257"/>
            <ac:spMk id="2" creationId="{658190DF-20A2-CA05-FAAE-8CE3538A5ED9}"/>
          </ac:spMkLst>
        </pc:spChg>
        <pc:spChg chg="mod">
          <ac:chgData name="John Victor Chavala" userId="2eea2e8a6b2ddcd2" providerId="LiveId" clId="{D70D345F-1C09-40F3-8673-58E370E3FD0D}" dt="2025-04-09T08:23:24.366" v="48" actId="115"/>
          <ac:spMkLst>
            <pc:docMk/>
            <pc:sldMk cId="2172684573" sldId="257"/>
            <ac:spMk id="6" creationId="{FE23BA2B-C7D8-DFD1-8AA3-F4C484954492}"/>
          </ac:spMkLst>
        </pc:spChg>
      </pc:sldChg>
      <pc:sldChg chg="modSp mod">
        <pc:chgData name="John Victor Chavala" userId="2eea2e8a6b2ddcd2" providerId="LiveId" clId="{D70D345F-1C09-40F3-8673-58E370E3FD0D}" dt="2025-04-09T01:52:14.914" v="5"/>
        <pc:sldMkLst>
          <pc:docMk/>
          <pc:sldMk cId="1750875234" sldId="259"/>
        </pc:sldMkLst>
        <pc:spChg chg="mod">
          <ac:chgData name="John Victor Chavala" userId="2eea2e8a6b2ddcd2" providerId="LiveId" clId="{D70D345F-1C09-40F3-8673-58E370E3FD0D}" dt="2025-04-09T01:52:14.914" v="5"/>
          <ac:spMkLst>
            <pc:docMk/>
            <pc:sldMk cId="1750875234" sldId="259"/>
            <ac:spMk id="5" creationId="{5A7412CA-2D39-D331-3E09-B5B8174FCB09}"/>
          </ac:spMkLst>
        </pc:spChg>
      </pc:sldChg>
      <pc:sldChg chg="modSp mod">
        <pc:chgData name="John Victor Chavala" userId="2eea2e8a6b2ddcd2" providerId="LiveId" clId="{D70D345F-1C09-40F3-8673-58E370E3FD0D}" dt="2025-04-09T05:10:07.279" v="22" actId="1036"/>
        <pc:sldMkLst>
          <pc:docMk/>
          <pc:sldMk cId="595187148" sldId="262"/>
        </pc:sldMkLst>
        <pc:spChg chg="mod">
          <ac:chgData name="John Victor Chavala" userId="2eea2e8a6b2ddcd2" providerId="LiveId" clId="{D70D345F-1C09-40F3-8673-58E370E3FD0D}" dt="2025-04-09T05:10:07.279" v="22" actId="1036"/>
          <ac:spMkLst>
            <pc:docMk/>
            <pc:sldMk cId="595187148" sldId="262"/>
            <ac:spMk id="3" creationId="{E7FBAC5F-3AB0-932D-BDDD-416294157140}"/>
          </ac:spMkLst>
        </pc:spChg>
      </pc:sldChg>
      <pc:sldChg chg="modSp mod">
        <pc:chgData name="John Victor Chavala" userId="2eea2e8a6b2ddcd2" providerId="LiveId" clId="{D70D345F-1C09-40F3-8673-58E370E3FD0D}" dt="2025-04-09T01:53:44.244" v="7"/>
        <pc:sldMkLst>
          <pc:docMk/>
          <pc:sldMk cId="3733839662" sldId="263"/>
        </pc:sldMkLst>
        <pc:spChg chg="mod">
          <ac:chgData name="John Victor Chavala" userId="2eea2e8a6b2ddcd2" providerId="LiveId" clId="{D70D345F-1C09-40F3-8673-58E370E3FD0D}" dt="2025-04-09T01:53:44.244" v="7"/>
          <ac:spMkLst>
            <pc:docMk/>
            <pc:sldMk cId="3733839662" sldId="263"/>
            <ac:spMk id="3" creationId="{9CDC5E2E-7D7E-3593-44A3-7C9F46341F78}"/>
          </ac:spMkLst>
        </pc:spChg>
      </pc:sldChg>
      <pc:sldChg chg="modSp mod">
        <pc:chgData name="John Victor Chavala" userId="2eea2e8a6b2ddcd2" providerId="LiveId" clId="{D70D345F-1C09-40F3-8673-58E370E3FD0D}" dt="2025-04-09T02:29:45.849" v="10" actId="1076"/>
        <pc:sldMkLst>
          <pc:docMk/>
          <pc:sldMk cId="57550113" sldId="266"/>
        </pc:sldMkLst>
        <pc:spChg chg="mod">
          <ac:chgData name="John Victor Chavala" userId="2eea2e8a6b2ddcd2" providerId="LiveId" clId="{D70D345F-1C09-40F3-8673-58E370E3FD0D}" dt="2025-04-09T02:29:45.849" v="10" actId="1076"/>
          <ac:spMkLst>
            <pc:docMk/>
            <pc:sldMk cId="57550113" sldId="266"/>
            <ac:spMk id="4" creationId="{CDB42849-0BA2-9A9F-FAEE-6AE849CE4C5F}"/>
          </ac:spMkLst>
        </pc:spChg>
      </pc:sldChg>
      <pc:sldChg chg="addSp delSp modSp new mod">
        <pc:chgData name="John Victor Chavala" userId="2eea2e8a6b2ddcd2" providerId="LiveId" clId="{D70D345F-1C09-40F3-8673-58E370E3FD0D}" dt="2025-04-09T08:39:44.938" v="65" actId="20577"/>
        <pc:sldMkLst>
          <pc:docMk/>
          <pc:sldMk cId="2473988404" sldId="269"/>
        </pc:sldMkLst>
        <pc:spChg chg="mod">
          <ac:chgData name="John Victor Chavala" userId="2eea2e8a6b2ddcd2" providerId="LiveId" clId="{D70D345F-1C09-40F3-8673-58E370E3FD0D}" dt="2025-04-09T07:27:27.974" v="40" actId="20577"/>
          <ac:spMkLst>
            <pc:docMk/>
            <pc:sldMk cId="2473988404" sldId="269"/>
            <ac:spMk id="2" creationId="{CF8B6D22-87FC-DAC9-5D45-5C11A659445A}"/>
          </ac:spMkLst>
        </pc:spChg>
        <pc:spChg chg="add del mod">
          <ac:chgData name="John Victor Chavala" userId="2eea2e8a6b2ddcd2" providerId="LiveId" clId="{D70D345F-1C09-40F3-8673-58E370E3FD0D}" dt="2025-04-09T08:39:44.938" v="65" actId="20577"/>
          <ac:spMkLst>
            <pc:docMk/>
            <pc:sldMk cId="2473988404" sldId="269"/>
            <ac:spMk id="3" creationId="{D6F67DAB-CF43-2A60-DF0F-A5C4CA8E027F}"/>
          </ac:spMkLst>
        </pc:spChg>
        <pc:spChg chg="add mod">
          <ac:chgData name="John Victor Chavala" userId="2eea2e8a6b2ddcd2" providerId="LiveId" clId="{D70D345F-1C09-40F3-8673-58E370E3FD0D}" dt="2025-04-09T07:26:32.221" v="25"/>
          <ac:spMkLst>
            <pc:docMk/>
            <pc:sldMk cId="2473988404" sldId="269"/>
            <ac:spMk id="4" creationId="{9454692C-325E-7E24-B81C-5F1ED3596EB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4/9/2025</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4/9/2025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4/9/2025</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386610-0EE6-1ED2-DF1B-5995D2A853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8380" y="576866"/>
            <a:ext cx="7635240" cy="2862073"/>
          </a:xfrm>
          <a:prstGeom prst="rect">
            <a:avLst/>
          </a:prstGeom>
        </p:spPr>
      </p:pic>
      <p:sp>
        <p:nvSpPr>
          <p:cNvPr id="7" name="TextBox 6">
            <a:extLst>
              <a:ext uri="{FF2B5EF4-FFF2-40B4-BE49-F238E27FC236}">
                <a16:creationId xmlns:a16="http://schemas.microsoft.com/office/drawing/2014/main" id="{2A85E2EA-6F42-9411-7653-73E16E8CE990}"/>
              </a:ext>
            </a:extLst>
          </p:cNvPr>
          <p:cNvSpPr txBox="1"/>
          <p:nvPr/>
        </p:nvSpPr>
        <p:spPr>
          <a:xfrm>
            <a:off x="1153668" y="4024950"/>
            <a:ext cx="9884664" cy="1477328"/>
          </a:xfrm>
          <a:prstGeom prst="rect">
            <a:avLst/>
          </a:prstGeom>
          <a:noFill/>
        </p:spPr>
        <p:txBody>
          <a:bodyPr wrap="square" rtlCol="0">
            <a:spAutoFit/>
          </a:bodyPr>
          <a:lstStyle/>
          <a:p>
            <a:pPr algn="l">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PRESENTING BY: </a:t>
            </a:r>
            <a:r>
              <a:rPr lang="en-US" b="1" dirty="0">
                <a:latin typeface="Times New Roman" panose="02020603050405020304" pitchFamily="18" charset="0"/>
                <a:cs typeface="Times New Roman" panose="02020603050405020304" pitchFamily="18" charset="0"/>
              </a:rPr>
              <a:t>John victor </a:t>
            </a:r>
            <a:r>
              <a:rPr lang="en-US" b="1" dirty="0" err="1">
                <a:latin typeface="Times New Roman" panose="02020603050405020304" pitchFamily="18" charset="0"/>
                <a:cs typeface="Times New Roman" panose="02020603050405020304" pitchFamily="18" charset="0"/>
              </a:rPr>
              <a:t>Chavala,Siraparupu</a:t>
            </a:r>
            <a:r>
              <a:rPr lang="en-US" b="1" dirty="0">
                <a:latin typeface="Times New Roman" panose="02020603050405020304" pitchFamily="18" charset="0"/>
                <a:cs typeface="Times New Roman" panose="02020603050405020304" pitchFamily="18" charset="0"/>
              </a:rPr>
              <a:t> Prabhath </a:t>
            </a:r>
            <a:r>
              <a:rPr lang="en-US" b="1" dirty="0" err="1">
                <a:latin typeface="Times New Roman" panose="02020603050405020304" pitchFamily="18" charset="0"/>
                <a:cs typeface="Times New Roman" panose="02020603050405020304" pitchFamily="18" charset="0"/>
              </a:rPr>
              <a:t>naidu</a:t>
            </a:r>
            <a:br>
              <a:rPr lang="sv-SE" sz="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sv-SE" sz="1800" b="1" dirty="0">
                <a:effectLst/>
                <a:latin typeface="Times New Roman" panose="02020603050405020304" pitchFamily="18" charset="0"/>
                <a:ea typeface="Times New Roman" panose="02020603050405020304" pitchFamily="18" charset="0"/>
                <a:cs typeface="Times New Roman" panose="02020603050405020304" pitchFamily="18" charset="0"/>
              </a:rPr>
              <a:t>DATE:</a:t>
            </a:r>
            <a:r>
              <a:rPr lang="sv-SE" sz="1800" dirty="0">
                <a:effectLst/>
                <a:latin typeface="Times New Roman" panose="02020603050405020304" pitchFamily="18" charset="0"/>
                <a:ea typeface="Times New Roman" panose="02020603050405020304" pitchFamily="18" charset="0"/>
                <a:cs typeface="Times New Roman" panose="02020603050405020304" pitchFamily="18" charset="0"/>
              </a:rPr>
              <a:t>04/04/2025</a:t>
            </a:r>
            <a:br>
              <a:rPr lang="sv-SE" sz="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sv-SE" sz="1800" b="1" dirty="0">
                <a:effectLst/>
                <a:latin typeface="Times New Roman" panose="02020603050405020304" pitchFamily="18" charset="0"/>
                <a:ea typeface="Times New Roman" panose="02020603050405020304" pitchFamily="18" charset="0"/>
                <a:cs typeface="Times New Roman" panose="02020603050405020304" pitchFamily="18" charset="0"/>
              </a:rPr>
              <a:t>REGISTRATION NUMBER:12323015,12311822</a:t>
            </a:r>
            <a:br>
              <a:rPr lang="sv-SE" sz="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sv-SE" sz="1800" b="1" dirty="0">
                <a:effectLst/>
                <a:latin typeface="Times New Roman" panose="02020603050405020304" pitchFamily="18" charset="0"/>
                <a:ea typeface="Times New Roman" panose="02020603050405020304" pitchFamily="18" charset="0"/>
                <a:cs typeface="Times New Roman" panose="02020603050405020304" pitchFamily="18" charset="0"/>
              </a:rPr>
              <a:t>SECTION: </a:t>
            </a:r>
            <a:r>
              <a:rPr lang="sv-SE" sz="1800" dirty="0">
                <a:effectLst/>
                <a:latin typeface="Times New Roman" panose="02020603050405020304" pitchFamily="18" charset="0"/>
                <a:ea typeface="Times New Roman" panose="02020603050405020304" pitchFamily="18" charset="0"/>
                <a:cs typeface="Times New Roman" panose="02020603050405020304" pitchFamily="18" charset="0"/>
              </a:rPr>
              <a:t>K23HS</a:t>
            </a:r>
            <a:br>
              <a:rPr lang="sv-SE" sz="14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1609084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B6D22-87FC-DAC9-5D45-5C11A659445A}"/>
              </a:ext>
            </a:extLst>
          </p:cNvPr>
          <p:cNvSpPr>
            <a:spLocks noGrp="1"/>
          </p:cNvSpPr>
          <p:nvPr>
            <p:ph type="title"/>
          </p:nvPr>
        </p:nvSpPr>
        <p:spPr/>
        <p:txBody>
          <a:bodyPr/>
          <a:lstStyle/>
          <a:p>
            <a:r>
              <a:rPr lang="en-IN" dirty="0"/>
              <a:t>TOPIC-:</a:t>
            </a:r>
          </a:p>
        </p:txBody>
      </p:sp>
      <p:sp>
        <p:nvSpPr>
          <p:cNvPr id="3" name="Content Placeholder 2">
            <a:extLst>
              <a:ext uri="{FF2B5EF4-FFF2-40B4-BE49-F238E27FC236}">
                <a16:creationId xmlns:a16="http://schemas.microsoft.com/office/drawing/2014/main" id="{D6F67DAB-CF43-2A60-DF0F-A5C4CA8E027F}"/>
              </a:ext>
            </a:extLst>
          </p:cNvPr>
          <p:cNvSpPr>
            <a:spLocks noGrp="1"/>
          </p:cNvSpPr>
          <p:nvPr>
            <p:ph idx="1"/>
          </p:nvPr>
        </p:nvSpPr>
        <p:spPr>
          <a:xfrm>
            <a:off x="2862470" y="2713384"/>
            <a:ext cx="6708913" cy="1049236"/>
          </a:xfrm>
        </p:spPr>
        <p:txBody>
          <a:bodyPr/>
          <a:lstStyle/>
          <a:p>
            <a:r>
              <a:rPr lang="en-US" dirty="0">
                <a:solidFill>
                  <a:srgbClr val="FF0000"/>
                </a:solidFill>
              </a:rPr>
              <a:t>SLOUTION TO DETECT AND QUANTIFY RIVERBANK EROSION USING AREIAL IMAGERY</a:t>
            </a:r>
            <a:endParaRPr lang="en-IN" dirty="0">
              <a:solidFill>
                <a:srgbClr val="FF0000"/>
              </a:solidFill>
            </a:endParaRPr>
          </a:p>
        </p:txBody>
      </p:sp>
    </p:spTree>
    <p:extLst>
      <p:ext uri="{BB962C8B-B14F-4D97-AF65-F5344CB8AC3E}">
        <p14:creationId xmlns:p14="http://schemas.microsoft.com/office/powerpoint/2010/main" val="2473988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E23BA2B-C7D8-DFD1-8AA3-F4C484954492}"/>
              </a:ext>
            </a:extLst>
          </p:cNvPr>
          <p:cNvSpPr txBox="1"/>
          <p:nvPr/>
        </p:nvSpPr>
        <p:spPr>
          <a:xfrm>
            <a:off x="2801074" y="1211295"/>
            <a:ext cx="6102626" cy="3280385"/>
          </a:xfrm>
          <a:prstGeom prst="rect">
            <a:avLst/>
          </a:prstGeom>
          <a:noFill/>
        </p:spPr>
        <p:txBody>
          <a:bodyPr wrap="square">
            <a:spAutoFit/>
          </a:bodyPr>
          <a:lstStyle/>
          <a:p>
            <a:pPr algn="l">
              <a:spcBef>
                <a:spcPts val="1372"/>
              </a:spcBef>
              <a:spcAft>
                <a:spcPts val="1029"/>
              </a:spcAft>
              <a:buNone/>
            </a:pPr>
            <a:r>
              <a:rPr lang="en-IN" b="1" i="0" u="sng" dirty="0">
                <a:solidFill>
                  <a:srgbClr val="FF0000"/>
                </a:solidFill>
                <a:effectLst/>
                <a:latin typeface="DeepSeek-CJK-patch"/>
              </a:rPr>
              <a:t>Introduction</a:t>
            </a:r>
          </a:p>
          <a:p>
            <a:pPr algn="l">
              <a:spcBef>
                <a:spcPts val="1372"/>
              </a:spcBef>
              <a:spcAft>
                <a:spcPts val="1029"/>
              </a:spcAft>
              <a:buNone/>
            </a:pPr>
            <a:r>
              <a:rPr lang="en-US" b="0" i="0" dirty="0">
                <a:effectLst/>
                <a:latin typeface="DeepSeek-CJK-patch"/>
              </a:rPr>
              <a:t>This section introduces the problem of riverbank erosion — the wearing away of the land near river edges. It explains how traditional methods are slow and not very accurate, and how aerial images combined with machine learning can solve this issue more efficiently.</a:t>
            </a:r>
            <a:endParaRPr lang="en-IN" b="0" i="0" dirty="0">
              <a:effectLst/>
              <a:latin typeface="DeepSeek-CJK-patch"/>
            </a:endParaRPr>
          </a:p>
          <a:p>
            <a:pPr algn="l">
              <a:lnSpc>
                <a:spcPts val="2143"/>
              </a:lnSpc>
              <a:spcBef>
                <a:spcPts val="300"/>
              </a:spcBef>
              <a:spcAft>
                <a:spcPts val="300"/>
              </a:spcAft>
              <a:buFont typeface="Arial" panose="020B0604020202020204" pitchFamily="34" charset="0"/>
              <a:buChar char="•"/>
            </a:pPr>
            <a:r>
              <a:rPr lang="en-IN" b="1" i="0" dirty="0">
                <a:effectLst/>
                <a:latin typeface="DeepSeek-CJK-patch"/>
              </a:rPr>
              <a:t>Significance:</a:t>
            </a:r>
            <a:endParaRPr lang="en-IN" b="0" i="0" dirty="0">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IN" b="0" i="0" dirty="0">
                <a:effectLst/>
                <a:latin typeface="DeepSeek-CJK-patch"/>
              </a:rPr>
              <a:t>Reduces manual effort.</a:t>
            </a:r>
          </a:p>
          <a:p>
            <a:pPr marL="742950" lvl="1" indent="-285750" algn="l">
              <a:lnSpc>
                <a:spcPts val="2143"/>
              </a:lnSpc>
              <a:spcBef>
                <a:spcPts val="300"/>
              </a:spcBef>
              <a:spcAft>
                <a:spcPts val="1029"/>
              </a:spcAft>
              <a:buFont typeface="Arial" panose="020B0604020202020204" pitchFamily="34" charset="0"/>
              <a:buChar char="•"/>
            </a:pPr>
            <a:r>
              <a:rPr lang="en-IN" b="0" i="0" dirty="0">
                <a:effectLst/>
                <a:latin typeface="DeepSeek-CJK-patch"/>
              </a:rPr>
              <a:t>Enhances accuracy for environmental monitoring</a:t>
            </a:r>
            <a:r>
              <a:rPr lang="en-IN" b="0" i="0" dirty="0">
                <a:solidFill>
                  <a:srgbClr val="F8FAFF"/>
                </a:solidFill>
                <a:effectLst/>
                <a:latin typeface="DeepSeek-CJK-patch"/>
              </a:rPr>
              <a:t>.</a:t>
            </a:r>
          </a:p>
        </p:txBody>
      </p:sp>
    </p:spTree>
    <p:extLst>
      <p:ext uri="{BB962C8B-B14F-4D97-AF65-F5344CB8AC3E}">
        <p14:creationId xmlns:p14="http://schemas.microsoft.com/office/powerpoint/2010/main" val="2172684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077909-617B-F85B-03A7-969CC685A9D7}"/>
              </a:ext>
            </a:extLst>
          </p:cNvPr>
          <p:cNvSpPr txBox="1"/>
          <p:nvPr/>
        </p:nvSpPr>
        <p:spPr>
          <a:xfrm>
            <a:off x="3051313" y="1654957"/>
            <a:ext cx="6102626" cy="3577903"/>
          </a:xfrm>
          <a:prstGeom prst="rect">
            <a:avLst/>
          </a:prstGeom>
          <a:noFill/>
        </p:spPr>
        <p:txBody>
          <a:bodyPr wrap="square">
            <a:spAutoFit/>
          </a:bodyPr>
          <a:lstStyle/>
          <a:p>
            <a:pPr algn="l">
              <a:spcBef>
                <a:spcPts val="1372"/>
              </a:spcBef>
              <a:spcAft>
                <a:spcPts val="1029"/>
              </a:spcAft>
              <a:buNone/>
            </a:pPr>
            <a:r>
              <a:rPr lang="en-US" b="1" i="0" dirty="0">
                <a:effectLst/>
                <a:latin typeface="DeepSeek-CJK-patch"/>
              </a:rPr>
              <a:t>Background and Motivation</a:t>
            </a:r>
            <a:endParaRPr lang="en-US" b="0" i="0" dirty="0">
              <a:effectLst/>
              <a:latin typeface="DeepSeek-CJK-patch"/>
            </a:endParaRPr>
          </a:p>
          <a:p>
            <a:pPr algn="l">
              <a:lnSpc>
                <a:spcPts val="2143"/>
              </a:lnSpc>
              <a:spcBef>
                <a:spcPts val="1029"/>
              </a:spcBef>
              <a:spcAft>
                <a:spcPts val="300"/>
              </a:spcAft>
              <a:buFont typeface="Arial" panose="020B0604020202020204" pitchFamily="34" charset="0"/>
              <a:buChar char="•"/>
            </a:pPr>
            <a:r>
              <a:rPr lang="en-US" b="1" i="0" dirty="0">
                <a:effectLst/>
                <a:latin typeface="DeepSeek-CJK-patch"/>
              </a:rPr>
              <a:t>Challenges with Traditional Methods:</a:t>
            </a:r>
            <a:endParaRPr lang="en-US" b="0" i="0" dirty="0">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Labor-intensive.</a:t>
            </a: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Low spatial resolution.</a:t>
            </a:r>
          </a:p>
          <a:p>
            <a:pPr algn="l">
              <a:lnSpc>
                <a:spcPts val="2143"/>
              </a:lnSpc>
              <a:spcBef>
                <a:spcPts val="300"/>
              </a:spcBef>
              <a:spcAft>
                <a:spcPts val="300"/>
              </a:spcAft>
              <a:buFont typeface="Arial" panose="020B0604020202020204" pitchFamily="34" charset="0"/>
              <a:buChar char="•"/>
            </a:pPr>
            <a:r>
              <a:rPr lang="en-US" b="1" i="0" dirty="0">
                <a:effectLst/>
                <a:latin typeface="DeepSeek-CJK-patch"/>
              </a:rPr>
              <a:t>Advantages of Aerial Imagery:</a:t>
            </a:r>
            <a:endParaRPr lang="en-US" b="0" i="0" dirty="0">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High-resolution data.</a:t>
            </a: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Large-area coverage.</a:t>
            </a:r>
          </a:p>
          <a:p>
            <a:pPr>
              <a:buNone/>
            </a:pPr>
            <a:br>
              <a:rPr lang="en-US" dirty="0"/>
            </a:br>
            <a:endParaRPr lang="en-IN" dirty="0"/>
          </a:p>
        </p:txBody>
      </p:sp>
    </p:spTree>
    <p:extLst>
      <p:ext uri="{BB962C8B-B14F-4D97-AF65-F5344CB8AC3E}">
        <p14:creationId xmlns:p14="http://schemas.microsoft.com/office/powerpoint/2010/main" val="4196472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7412CA-2D39-D331-3E09-B5B8174FCB09}"/>
              </a:ext>
            </a:extLst>
          </p:cNvPr>
          <p:cNvSpPr txBox="1"/>
          <p:nvPr/>
        </p:nvSpPr>
        <p:spPr>
          <a:xfrm>
            <a:off x="3051313" y="1934841"/>
            <a:ext cx="6102626" cy="2844368"/>
          </a:xfrm>
          <a:prstGeom prst="rect">
            <a:avLst/>
          </a:prstGeom>
          <a:noFill/>
        </p:spPr>
        <p:txBody>
          <a:bodyPr wrap="square">
            <a:spAutoFit/>
          </a:bodyPr>
          <a:lstStyle/>
          <a:p>
            <a:pPr algn="l">
              <a:spcBef>
                <a:spcPts val="1372"/>
              </a:spcBef>
              <a:spcAft>
                <a:spcPts val="1029"/>
              </a:spcAft>
              <a:buNone/>
            </a:pPr>
            <a:r>
              <a:rPr lang="en-US" b="1" i="0" dirty="0">
                <a:effectLst/>
                <a:latin typeface="DeepSeek-CJK-patch"/>
              </a:rPr>
              <a:t>Literature Review</a:t>
            </a:r>
          </a:p>
          <a:p>
            <a:pPr algn="l">
              <a:spcBef>
                <a:spcPts val="1372"/>
              </a:spcBef>
              <a:spcAft>
                <a:spcPts val="1029"/>
              </a:spcAft>
              <a:buNone/>
            </a:pPr>
            <a:r>
              <a:rPr lang="en-US" b="0" i="0" dirty="0">
                <a:effectLst/>
                <a:latin typeface="DeepSeek-CJK-patch"/>
              </a:rPr>
              <a:t>Here, previous research works are discussed. It covers how others have used satellite images, aerial photos, and machine learning to detect land changes. It also identifies the gap — very few have used high-resolution aerial images with specific ML models for riverbank erosion.</a:t>
            </a:r>
          </a:p>
          <a:p>
            <a:pPr algn="l">
              <a:lnSpc>
                <a:spcPts val="2143"/>
              </a:lnSpc>
              <a:spcBef>
                <a:spcPts val="300"/>
              </a:spcBef>
              <a:spcAft>
                <a:spcPts val="300"/>
              </a:spcAft>
              <a:buFont typeface="Arial" panose="020B0604020202020204" pitchFamily="34" charset="0"/>
              <a:buChar char="•"/>
            </a:pPr>
            <a:r>
              <a:rPr lang="en-US" b="1" i="0" dirty="0">
                <a:effectLst/>
                <a:latin typeface="DeepSeek-CJK-patch"/>
              </a:rPr>
              <a:t>Research Gap:</a:t>
            </a:r>
            <a:endParaRPr lang="en-US" b="0" i="0" dirty="0">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Need for tailored ML models for riverbank erosion.</a:t>
            </a:r>
          </a:p>
        </p:txBody>
      </p:sp>
    </p:spTree>
    <p:extLst>
      <p:ext uri="{BB962C8B-B14F-4D97-AF65-F5344CB8AC3E}">
        <p14:creationId xmlns:p14="http://schemas.microsoft.com/office/powerpoint/2010/main" val="1750875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209B187-9691-B854-6EA0-66467203FF9C}"/>
              </a:ext>
            </a:extLst>
          </p:cNvPr>
          <p:cNvSpPr txBox="1"/>
          <p:nvPr/>
        </p:nvSpPr>
        <p:spPr>
          <a:xfrm>
            <a:off x="2782956" y="657821"/>
            <a:ext cx="6102626" cy="2908489"/>
          </a:xfrm>
          <a:prstGeom prst="rect">
            <a:avLst/>
          </a:prstGeom>
          <a:noFill/>
        </p:spPr>
        <p:txBody>
          <a:bodyPr wrap="square">
            <a:spAutoFit/>
          </a:bodyPr>
          <a:lstStyle/>
          <a:p>
            <a:pPr algn="l">
              <a:spcBef>
                <a:spcPts val="1372"/>
              </a:spcBef>
              <a:spcAft>
                <a:spcPts val="1029"/>
              </a:spcAft>
              <a:buNone/>
            </a:pPr>
            <a:r>
              <a:rPr lang="en-IN" b="1" i="0" dirty="0">
                <a:effectLst/>
                <a:latin typeface="DeepSeek-CJK-patch"/>
              </a:rPr>
              <a:t>Methodology Overview</a:t>
            </a:r>
            <a:endParaRPr lang="en-IN" b="0" i="0" dirty="0">
              <a:effectLst/>
              <a:latin typeface="DeepSeek-CJK-patch"/>
            </a:endParaRPr>
          </a:p>
          <a:p>
            <a:pPr algn="l">
              <a:lnSpc>
                <a:spcPts val="2143"/>
              </a:lnSpc>
              <a:spcBef>
                <a:spcPts val="1029"/>
              </a:spcBef>
              <a:spcAft>
                <a:spcPts val="1029"/>
              </a:spcAft>
              <a:buFont typeface="+mj-lt"/>
              <a:buAutoNum type="arabicPeriod"/>
            </a:pPr>
            <a:r>
              <a:rPr lang="en-IN" b="1" i="0" dirty="0">
                <a:effectLst/>
                <a:latin typeface="DeepSeek-CJK-patch"/>
              </a:rPr>
              <a:t>Data Collection:</a:t>
            </a:r>
            <a:r>
              <a:rPr lang="en-IN" b="0" i="0" dirty="0">
                <a:effectLst/>
                <a:latin typeface="DeepSeek-CJK-patch"/>
              </a:rPr>
              <a:t> High-resolution aerial images.</a:t>
            </a:r>
          </a:p>
          <a:p>
            <a:pPr algn="l">
              <a:lnSpc>
                <a:spcPts val="2143"/>
              </a:lnSpc>
              <a:spcBef>
                <a:spcPts val="300"/>
              </a:spcBef>
              <a:spcAft>
                <a:spcPts val="1029"/>
              </a:spcAft>
              <a:buFont typeface="+mj-lt"/>
              <a:buAutoNum type="arabicPeriod"/>
            </a:pPr>
            <a:r>
              <a:rPr lang="en-IN" b="1" i="0" dirty="0">
                <a:effectLst/>
                <a:latin typeface="DeepSeek-CJK-patch"/>
              </a:rPr>
              <a:t>Preprocessing:</a:t>
            </a:r>
            <a:r>
              <a:rPr lang="en-IN" b="0" i="0" dirty="0">
                <a:effectLst/>
                <a:latin typeface="DeepSeek-CJK-patch"/>
              </a:rPr>
              <a:t> Geometric correction, noise reduction.</a:t>
            </a:r>
          </a:p>
          <a:p>
            <a:pPr algn="l">
              <a:lnSpc>
                <a:spcPts val="2143"/>
              </a:lnSpc>
              <a:spcBef>
                <a:spcPts val="300"/>
              </a:spcBef>
              <a:spcAft>
                <a:spcPts val="1029"/>
              </a:spcAft>
              <a:buFont typeface="+mj-lt"/>
              <a:buAutoNum type="arabicPeriod"/>
            </a:pPr>
            <a:r>
              <a:rPr lang="en-IN" b="1" i="0" dirty="0">
                <a:effectLst/>
                <a:latin typeface="DeepSeek-CJK-patch"/>
              </a:rPr>
              <a:t>Feature Extraction:</a:t>
            </a:r>
            <a:r>
              <a:rPr lang="en-IN" b="0" i="0" dirty="0">
                <a:effectLst/>
                <a:latin typeface="DeepSeek-CJK-patch"/>
              </a:rPr>
              <a:t> ORB features, </a:t>
            </a:r>
            <a:r>
              <a:rPr lang="en-IN" b="0" i="0" dirty="0" err="1">
                <a:effectLst/>
                <a:latin typeface="DeepSeek-CJK-patch"/>
              </a:rPr>
              <a:t>homography</a:t>
            </a:r>
            <a:r>
              <a:rPr lang="en-IN" b="0" i="0" dirty="0">
                <a:effectLst/>
                <a:latin typeface="DeepSeek-CJK-patch"/>
              </a:rPr>
              <a:t> transformations.</a:t>
            </a:r>
          </a:p>
          <a:p>
            <a:pPr algn="l">
              <a:lnSpc>
                <a:spcPts val="2143"/>
              </a:lnSpc>
              <a:spcBef>
                <a:spcPts val="300"/>
              </a:spcBef>
              <a:spcAft>
                <a:spcPts val="1029"/>
              </a:spcAft>
              <a:buFont typeface="+mj-lt"/>
              <a:buAutoNum type="arabicPeriod"/>
            </a:pPr>
            <a:r>
              <a:rPr lang="en-IN" b="1" i="0" dirty="0">
                <a:effectLst/>
                <a:latin typeface="DeepSeek-CJK-patch"/>
              </a:rPr>
              <a:t>Model Training:</a:t>
            </a:r>
            <a:r>
              <a:rPr lang="en-IN" b="0" i="0" dirty="0">
                <a:effectLst/>
                <a:latin typeface="DeepSeek-CJK-patch"/>
              </a:rPr>
              <a:t> </a:t>
            </a:r>
            <a:r>
              <a:rPr lang="en-IN" b="0" i="0" dirty="0" err="1">
                <a:effectLst/>
                <a:latin typeface="DeepSeek-CJK-patch"/>
              </a:rPr>
              <a:t>XGBoost</a:t>
            </a:r>
            <a:r>
              <a:rPr lang="en-IN" b="0" i="0" dirty="0">
                <a:effectLst/>
                <a:latin typeface="DeepSeek-CJK-patch"/>
              </a:rPr>
              <a:t> for classification/regression.</a:t>
            </a:r>
          </a:p>
          <a:p>
            <a:pPr algn="l">
              <a:lnSpc>
                <a:spcPts val="2143"/>
              </a:lnSpc>
              <a:spcBef>
                <a:spcPts val="300"/>
              </a:spcBef>
              <a:spcAft>
                <a:spcPts val="1029"/>
              </a:spcAft>
              <a:buFont typeface="+mj-lt"/>
              <a:buAutoNum type="arabicPeriod"/>
            </a:pPr>
            <a:r>
              <a:rPr lang="en-IN" b="1" i="0" dirty="0">
                <a:effectLst/>
                <a:latin typeface="DeepSeek-CJK-patch"/>
              </a:rPr>
              <a:t>Validation:</a:t>
            </a:r>
            <a:r>
              <a:rPr lang="en-IN" b="0" i="0" dirty="0">
                <a:effectLst/>
                <a:latin typeface="DeepSeek-CJK-patch"/>
              </a:rPr>
              <a:t> 80/20 train-test split, performance metrics</a:t>
            </a:r>
            <a:r>
              <a:rPr lang="en-IN" b="0" i="0" dirty="0">
                <a:solidFill>
                  <a:srgbClr val="F8FAFF"/>
                </a:solidFill>
                <a:effectLst/>
                <a:latin typeface="DeepSeek-CJK-patch"/>
              </a:rPr>
              <a:t>.</a:t>
            </a:r>
          </a:p>
        </p:txBody>
      </p:sp>
    </p:spTree>
    <p:extLst>
      <p:ext uri="{BB962C8B-B14F-4D97-AF65-F5344CB8AC3E}">
        <p14:creationId xmlns:p14="http://schemas.microsoft.com/office/powerpoint/2010/main" val="2026432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BF153D-306B-0C70-86C3-9ACC0D32DCB8}"/>
              </a:ext>
            </a:extLst>
          </p:cNvPr>
          <p:cNvSpPr txBox="1"/>
          <p:nvPr/>
        </p:nvSpPr>
        <p:spPr>
          <a:xfrm>
            <a:off x="3051313" y="2204145"/>
            <a:ext cx="6102626" cy="2459648"/>
          </a:xfrm>
          <a:prstGeom prst="rect">
            <a:avLst/>
          </a:prstGeom>
          <a:noFill/>
        </p:spPr>
        <p:txBody>
          <a:bodyPr wrap="square">
            <a:spAutoFit/>
          </a:bodyPr>
          <a:lstStyle/>
          <a:p>
            <a:pPr algn="l">
              <a:spcBef>
                <a:spcPts val="1372"/>
              </a:spcBef>
              <a:spcAft>
                <a:spcPts val="1029"/>
              </a:spcAft>
              <a:buNone/>
            </a:pPr>
            <a:r>
              <a:rPr lang="en-US" b="1" i="0" dirty="0">
                <a:effectLst/>
                <a:latin typeface="DeepSeek-CJK-patch"/>
              </a:rPr>
              <a:t>Data Preprocessing</a:t>
            </a:r>
            <a:endParaRPr lang="en-US" b="0" i="0" dirty="0">
              <a:effectLst/>
              <a:latin typeface="DeepSeek-CJK-patch"/>
            </a:endParaRPr>
          </a:p>
          <a:p>
            <a:pPr algn="l">
              <a:lnSpc>
                <a:spcPts val="2143"/>
              </a:lnSpc>
              <a:spcBef>
                <a:spcPts val="1029"/>
              </a:spcBef>
              <a:spcAft>
                <a:spcPts val="300"/>
              </a:spcAft>
              <a:buFont typeface="Arial" panose="020B0604020202020204" pitchFamily="34" charset="0"/>
              <a:buChar char="•"/>
            </a:pPr>
            <a:r>
              <a:rPr lang="en-US" b="1" i="0" dirty="0">
                <a:effectLst/>
                <a:latin typeface="DeepSeek-CJK-patch"/>
              </a:rPr>
              <a:t>Steps:</a:t>
            </a:r>
            <a:endParaRPr lang="en-US" b="0" i="0" dirty="0">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Normalization.</a:t>
            </a: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Edge detection (Canny).</a:t>
            </a:r>
          </a:p>
          <a:p>
            <a:pPr algn="l">
              <a:lnSpc>
                <a:spcPts val="2143"/>
              </a:lnSpc>
              <a:spcBef>
                <a:spcPts val="300"/>
              </a:spcBef>
              <a:spcAft>
                <a:spcPts val="300"/>
              </a:spcAft>
              <a:buFont typeface="Arial" panose="020B0604020202020204" pitchFamily="34" charset="0"/>
              <a:buChar char="•"/>
            </a:pPr>
            <a:r>
              <a:rPr lang="en-US" b="1" i="0" dirty="0">
                <a:effectLst/>
                <a:latin typeface="DeepSeek-CJK-patch"/>
              </a:rPr>
              <a:t>Visualization:</a:t>
            </a:r>
            <a:endParaRPr lang="en-US" b="0" i="0" dirty="0">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Figure 1: Aerial view of erosion patterns</a:t>
            </a:r>
            <a:r>
              <a:rPr lang="en-US" b="0" i="0" dirty="0">
                <a:solidFill>
                  <a:srgbClr val="F8FAFF"/>
                </a:solidFill>
                <a:effectLst/>
                <a:latin typeface="DeepSeek-CJK-patch"/>
              </a:rPr>
              <a:t>.</a:t>
            </a:r>
          </a:p>
        </p:txBody>
      </p:sp>
    </p:spTree>
    <p:extLst>
      <p:ext uri="{BB962C8B-B14F-4D97-AF65-F5344CB8AC3E}">
        <p14:creationId xmlns:p14="http://schemas.microsoft.com/office/powerpoint/2010/main" val="1756144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FBAC5F-3AB0-932D-BDDD-416294157140}"/>
              </a:ext>
            </a:extLst>
          </p:cNvPr>
          <p:cNvSpPr txBox="1"/>
          <p:nvPr/>
        </p:nvSpPr>
        <p:spPr>
          <a:xfrm>
            <a:off x="1095191" y="319384"/>
            <a:ext cx="8708565" cy="4619213"/>
          </a:xfrm>
          <a:prstGeom prst="rect">
            <a:avLst/>
          </a:prstGeom>
          <a:noFill/>
        </p:spPr>
        <p:txBody>
          <a:bodyPr wrap="square">
            <a:spAutoFit/>
          </a:bodyPr>
          <a:lstStyle/>
          <a:p>
            <a:pPr algn="l">
              <a:spcBef>
                <a:spcPts val="1372"/>
              </a:spcBef>
              <a:spcAft>
                <a:spcPts val="1029"/>
              </a:spcAft>
              <a:buNone/>
            </a:pPr>
            <a:r>
              <a:rPr lang="en-IN" b="1" i="0" dirty="0" err="1">
                <a:effectLst/>
                <a:latin typeface="DeepSeek-CJK-patch"/>
              </a:rPr>
              <a:t>XGBoost</a:t>
            </a:r>
            <a:r>
              <a:rPr lang="en-IN" b="1" i="0" dirty="0">
                <a:effectLst/>
                <a:latin typeface="DeepSeek-CJK-patch"/>
              </a:rPr>
              <a:t> Model</a:t>
            </a:r>
          </a:p>
          <a:p>
            <a:pPr>
              <a:spcBef>
                <a:spcPts val="1372"/>
              </a:spcBef>
              <a:spcAft>
                <a:spcPts val="1029"/>
              </a:spcAft>
            </a:pPr>
            <a:r>
              <a:rPr lang="en-US" b="1" dirty="0" err="1"/>
              <a:t>XGBoost</a:t>
            </a:r>
            <a:r>
              <a:rPr lang="en-US" dirty="0"/>
              <a:t> (short for </a:t>
            </a:r>
            <a:r>
              <a:rPr lang="en-US" b="1" dirty="0"/>
              <a:t>Extreme Gradient Boosting</a:t>
            </a:r>
            <a:r>
              <a:rPr lang="en-US" dirty="0"/>
              <a:t>) is a </a:t>
            </a:r>
            <a:r>
              <a:rPr lang="en-US" b="1" dirty="0"/>
              <a:t>powerful, scalable machine learning algorithm</a:t>
            </a:r>
            <a:r>
              <a:rPr lang="en-US" dirty="0"/>
              <a:t> based on decision trees. It is widely used for both </a:t>
            </a:r>
            <a:r>
              <a:rPr lang="en-US" b="1" dirty="0"/>
              <a:t>regression</a:t>
            </a:r>
            <a:r>
              <a:rPr lang="en-US" dirty="0"/>
              <a:t> and </a:t>
            </a:r>
            <a:r>
              <a:rPr lang="en-US" b="1" dirty="0"/>
              <a:t>classification tasks</a:t>
            </a:r>
            <a:r>
              <a:rPr lang="en-US" dirty="0"/>
              <a:t>, especially in structured (tabular) data problems.</a:t>
            </a:r>
          </a:p>
          <a:p>
            <a:pPr algn="l">
              <a:spcBef>
                <a:spcPts val="1372"/>
              </a:spcBef>
              <a:spcAft>
                <a:spcPts val="1029"/>
              </a:spcAft>
              <a:buNone/>
            </a:pPr>
            <a:endParaRPr lang="en-IN" b="0" i="0" dirty="0">
              <a:effectLst/>
              <a:latin typeface="DeepSeek-CJK-patch"/>
            </a:endParaRPr>
          </a:p>
          <a:p>
            <a:pPr algn="l">
              <a:lnSpc>
                <a:spcPts val="2143"/>
              </a:lnSpc>
              <a:spcBef>
                <a:spcPts val="1029"/>
              </a:spcBef>
              <a:spcAft>
                <a:spcPts val="300"/>
              </a:spcAft>
              <a:buFont typeface="Arial" panose="020B0604020202020204" pitchFamily="34" charset="0"/>
              <a:buChar char="•"/>
            </a:pPr>
            <a:r>
              <a:rPr lang="en-IN" b="1" i="0" dirty="0">
                <a:effectLst/>
                <a:latin typeface="DeepSeek-CJK-patch"/>
              </a:rPr>
              <a:t>Why </a:t>
            </a:r>
            <a:r>
              <a:rPr lang="en-IN" b="1" i="0" dirty="0" err="1">
                <a:effectLst/>
                <a:latin typeface="DeepSeek-CJK-patch"/>
              </a:rPr>
              <a:t>XGBoost</a:t>
            </a:r>
            <a:r>
              <a:rPr lang="en-IN" b="1" i="0" dirty="0">
                <a:effectLst/>
                <a:latin typeface="DeepSeek-CJK-patch"/>
              </a:rPr>
              <a:t>?</a:t>
            </a:r>
            <a:endParaRPr lang="en-IN" b="0" i="0" dirty="0">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IN" b="0" i="0" dirty="0">
                <a:effectLst/>
                <a:latin typeface="DeepSeek-CJK-patch"/>
              </a:rPr>
              <a:t>Handles high-dimensional data.</a:t>
            </a:r>
          </a:p>
          <a:p>
            <a:pPr marL="742950" lvl="1" indent="-285750" algn="l">
              <a:lnSpc>
                <a:spcPts val="2143"/>
              </a:lnSpc>
              <a:spcBef>
                <a:spcPts val="300"/>
              </a:spcBef>
              <a:spcAft>
                <a:spcPts val="1029"/>
              </a:spcAft>
              <a:buFont typeface="Arial" panose="020B0604020202020204" pitchFamily="34" charset="0"/>
              <a:buChar char="•"/>
            </a:pPr>
            <a:r>
              <a:rPr lang="en-IN" b="0" i="0" dirty="0">
                <a:effectLst/>
                <a:latin typeface="DeepSeek-CJK-patch"/>
              </a:rPr>
              <a:t>Optimized hyperparameters (learning rate, max depth).</a:t>
            </a:r>
          </a:p>
          <a:p>
            <a:pPr algn="l">
              <a:lnSpc>
                <a:spcPts val="2143"/>
              </a:lnSpc>
              <a:spcBef>
                <a:spcPts val="300"/>
              </a:spcBef>
              <a:spcAft>
                <a:spcPts val="300"/>
              </a:spcAft>
              <a:buFont typeface="Arial" panose="020B0604020202020204" pitchFamily="34" charset="0"/>
              <a:buChar char="•"/>
            </a:pPr>
            <a:r>
              <a:rPr lang="en-IN" b="1" i="0" dirty="0">
                <a:effectLst/>
                <a:latin typeface="DeepSeek-CJK-patch"/>
              </a:rPr>
              <a:t>Training Process:</a:t>
            </a:r>
            <a:endParaRPr lang="en-IN" b="0" i="0" dirty="0">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IN" b="0" i="0" dirty="0">
                <a:effectLst/>
                <a:latin typeface="DeepSeek-CJK-patch"/>
              </a:rPr>
              <a:t>Feature engineering.</a:t>
            </a:r>
          </a:p>
          <a:p>
            <a:pPr marL="742950" lvl="1" indent="-285750" algn="l">
              <a:lnSpc>
                <a:spcPts val="2143"/>
              </a:lnSpc>
              <a:spcBef>
                <a:spcPts val="300"/>
              </a:spcBef>
              <a:spcAft>
                <a:spcPts val="1029"/>
              </a:spcAft>
              <a:buFont typeface="Arial" panose="020B0604020202020204" pitchFamily="34" charset="0"/>
              <a:buChar char="•"/>
            </a:pPr>
            <a:r>
              <a:rPr lang="en-IN" b="0" i="0" dirty="0">
                <a:effectLst/>
                <a:latin typeface="DeepSeek-CJK-patch"/>
              </a:rPr>
              <a:t>Hyperparameter tuning.</a:t>
            </a:r>
          </a:p>
        </p:txBody>
      </p:sp>
    </p:spTree>
    <p:extLst>
      <p:ext uri="{BB962C8B-B14F-4D97-AF65-F5344CB8AC3E}">
        <p14:creationId xmlns:p14="http://schemas.microsoft.com/office/powerpoint/2010/main" val="595187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DC5E2E-7D7E-3593-44A3-7C9F46341F78}"/>
              </a:ext>
            </a:extLst>
          </p:cNvPr>
          <p:cNvSpPr txBox="1"/>
          <p:nvPr/>
        </p:nvSpPr>
        <p:spPr>
          <a:xfrm>
            <a:off x="3273287" y="1915911"/>
            <a:ext cx="6102626" cy="3703578"/>
          </a:xfrm>
          <a:prstGeom prst="rect">
            <a:avLst/>
          </a:prstGeom>
          <a:noFill/>
        </p:spPr>
        <p:txBody>
          <a:bodyPr wrap="square">
            <a:spAutoFit/>
          </a:bodyPr>
          <a:lstStyle/>
          <a:p>
            <a:pPr algn="l">
              <a:spcBef>
                <a:spcPts val="1372"/>
              </a:spcBef>
              <a:spcAft>
                <a:spcPts val="1029"/>
              </a:spcAft>
              <a:buNone/>
            </a:pPr>
            <a:r>
              <a:rPr lang="en-US" b="1" i="0" dirty="0">
                <a:effectLst/>
                <a:latin typeface="DeepSeek-CJK-patch"/>
              </a:rPr>
              <a:t>Results</a:t>
            </a:r>
            <a:endParaRPr lang="en-US" b="0" i="0" dirty="0">
              <a:effectLst/>
              <a:latin typeface="DeepSeek-CJK-patch"/>
            </a:endParaRPr>
          </a:p>
          <a:p>
            <a:pPr algn="l">
              <a:lnSpc>
                <a:spcPts val="2143"/>
              </a:lnSpc>
              <a:spcBef>
                <a:spcPts val="1029"/>
              </a:spcBef>
              <a:spcAft>
                <a:spcPts val="300"/>
              </a:spcAft>
              <a:buFont typeface="Arial" panose="020B0604020202020204" pitchFamily="34" charset="0"/>
              <a:buChar char="•"/>
            </a:pPr>
            <a:r>
              <a:rPr lang="en-US" b="1" i="0" dirty="0">
                <a:effectLst/>
                <a:latin typeface="DeepSeek-CJK-patch"/>
              </a:rPr>
              <a:t>Key Metrics:</a:t>
            </a:r>
            <a:endParaRPr lang="en-US" b="0" i="0" dirty="0">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Accuracy: &gt;90%.</a:t>
            </a: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Precision, Recall, F1-score, RMSE.</a:t>
            </a: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The </a:t>
            </a:r>
            <a:r>
              <a:rPr lang="en-US" b="0" i="0" dirty="0" err="1">
                <a:effectLst/>
                <a:latin typeface="DeepSeek-CJK-patch"/>
              </a:rPr>
              <a:t>XGBoost</a:t>
            </a:r>
            <a:r>
              <a:rPr lang="en-US" b="0" i="0" dirty="0">
                <a:effectLst/>
                <a:latin typeface="DeepSeek-CJK-patch"/>
              </a:rPr>
              <a:t> model gave over 90% accuracy. It worked better than older manual methods and saved time. Some mistakes happened in unclear image areas. Seasonal changes also affected performance.</a:t>
            </a:r>
          </a:p>
          <a:p>
            <a:pPr algn="l">
              <a:lnSpc>
                <a:spcPts val="2143"/>
              </a:lnSpc>
              <a:spcBef>
                <a:spcPts val="300"/>
              </a:spcBef>
              <a:spcAft>
                <a:spcPts val="300"/>
              </a:spcAft>
              <a:buFont typeface="Arial" panose="020B0604020202020204" pitchFamily="34" charset="0"/>
              <a:buChar char="•"/>
            </a:pPr>
            <a:r>
              <a:rPr lang="en-US" b="1" i="0" dirty="0">
                <a:effectLst/>
                <a:latin typeface="DeepSeek-CJK-patch"/>
              </a:rPr>
              <a:t>Comparative Advantage:</a:t>
            </a:r>
            <a:endParaRPr lang="en-US" b="0" i="0" dirty="0">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Faster and more accurate than manual methods.</a:t>
            </a:r>
          </a:p>
        </p:txBody>
      </p:sp>
    </p:spTree>
    <p:extLst>
      <p:ext uri="{BB962C8B-B14F-4D97-AF65-F5344CB8AC3E}">
        <p14:creationId xmlns:p14="http://schemas.microsoft.com/office/powerpoint/2010/main" val="3733839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7BE66C-8E1F-DB26-C1D4-FA497BDD228F}"/>
              </a:ext>
            </a:extLst>
          </p:cNvPr>
          <p:cNvSpPr txBox="1"/>
          <p:nvPr/>
        </p:nvSpPr>
        <p:spPr>
          <a:xfrm>
            <a:off x="1977888" y="1588237"/>
            <a:ext cx="6102626" cy="2359620"/>
          </a:xfrm>
          <a:prstGeom prst="rect">
            <a:avLst/>
          </a:prstGeom>
          <a:noFill/>
        </p:spPr>
        <p:txBody>
          <a:bodyPr wrap="square">
            <a:spAutoFit/>
          </a:bodyPr>
          <a:lstStyle/>
          <a:p>
            <a:pPr algn="l">
              <a:spcBef>
                <a:spcPts val="1372"/>
              </a:spcBef>
              <a:spcAft>
                <a:spcPts val="1029"/>
              </a:spcAft>
              <a:buNone/>
            </a:pPr>
            <a:r>
              <a:rPr lang="en-US" b="1" i="0" dirty="0">
                <a:solidFill>
                  <a:srgbClr val="F8FAFF"/>
                </a:solidFill>
                <a:effectLst/>
                <a:latin typeface="DeepSeek-CJK-patch"/>
              </a:rPr>
              <a:t> </a:t>
            </a:r>
            <a:r>
              <a:rPr lang="en-US" b="1" i="0" dirty="0">
                <a:effectLst/>
                <a:latin typeface="DeepSeek-CJK-patch"/>
              </a:rPr>
              <a:t>Data Visualization</a:t>
            </a:r>
            <a:endParaRPr lang="en-US" b="0" i="0" dirty="0">
              <a:effectLst/>
              <a:latin typeface="DeepSeek-CJK-patch"/>
            </a:endParaRPr>
          </a:p>
          <a:p>
            <a:pPr algn="l">
              <a:lnSpc>
                <a:spcPts val="2143"/>
              </a:lnSpc>
              <a:spcBef>
                <a:spcPts val="1029"/>
              </a:spcBef>
              <a:spcAft>
                <a:spcPts val="300"/>
              </a:spcAft>
              <a:buFont typeface="Arial" panose="020B0604020202020204" pitchFamily="34" charset="0"/>
              <a:buChar char="•"/>
            </a:pPr>
            <a:r>
              <a:rPr lang="en-US" b="1" i="0" dirty="0">
                <a:effectLst/>
                <a:latin typeface="DeepSeek-CJK-patch"/>
              </a:rPr>
              <a:t>Figures:</a:t>
            </a:r>
            <a:endParaRPr lang="en-US" b="0" i="0" dirty="0">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Bar graph of model accuracy (Figure 3).</a:t>
            </a: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Flowchart of detection pipeline (Figure </a:t>
            </a:r>
            <a:r>
              <a:rPr lang="en-US" b="0" i="0" dirty="0">
                <a:solidFill>
                  <a:srgbClr val="F8FAFF"/>
                </a:solidFill>
                <a:effectLst/>
                <a:latin typeface="DeepSeek-CJK-patch"/>
              </a:rPr>
              <a:t>2).</a:t>
            </a:r>
          </a:p>
          <a:p>
            <a:pPr>
              <a:buNone/>
            </a:pPr>
            <a:br>
              <a:rPr lang="en-US" dirty="0"/>
            </a:br>
            <a:endParaRPr lang="en-IN" dirty="0"/>
          </a:p>
        </p:txBody>
      </p:sp>
    </p:spTree>
    <p:extLst>
      <p:ext uri="{BB962C8B-B14F-4D97-AF65-F5344CB8AC3E}">
        <p14:creationId xmlns:p14="http://schemas.microsoft.com/office/powerpoint/2010/main" val="3717784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8F1168-D952-95D4-9D54-0487CEE6DA85}"/>
              </a:ext>
            </a:extLst>
          </p:cNvPr>
          <p:cNvSpPr txBox="1"/>
          <p:nvPr/>
        </p:nvSpPr>
        <p:spPr>
          <a:xfrm>
            <a:off x="3051313" y="1996076"/>
            <a:ext cx="6102626" cy="2895664"/>
          </a:xfrm>
          <a:prstGeom prst="rect">
            <a:avLst/>
          </a:prstGeom>
          <a:noFill/>
        </p:spPr>
        <p:txBody>
          <a:bodyPr wrap="square">
            <a:spAutoFit/>
          </a:bodyPr>
          <a:lstStyle/>
          <a:p>
            <a:pPr algn="l">
              <a:spcBef>
                <a:spcPts val="1372"/>
              </a:spcBef>
              <a:spcAft>
                <a:spcPts val="1029"/>
              </a:spcAft>
              <a:buNone/>
            </a:pPr>
            <a:r>
              <a:rPr lang="en-US" b="1" i="0" dirty="0">
                <a:effectLst/>
                <a:latin typeface="DeepSeek-CJK-patch"/>
              </a:rPr>
              <a:t>Challenges and Limitations</a:t>
            </a:r>
            <a:endParaRPr lang="en-US" b="0" i="0" dirty="0">
              <a:effectLst/>
              <a:latin typeface="DeepSeek-CJK-patch"/>
            </a:endParaRPr>
          </a:p>
          <a:p>
            <a:pPr algn="l">
              <a:lnSpc>
                <a:spcPts val="2143"/>
              </a:lnSpc>
              <a:spcBef>
                <a:spcPts val="1029"/>
              </a:spcBef>
              <a:spcAft>
                <a:spcPts val="300"/>
              </a:spcAft>
              <a:buFont typeface="Arial" panose="020B0604020202020204" pitchFamily="34" charset="0"/>
              <a:buChar char="•"/>
            </a:pPr>
            <a:r>
              <a:rPr lang="en-US" b="1" i="0" dirty="0">
                <a:effectLst/>
                <a:latin typeface="DeepSeek-CJK-patch"/>
              </a:rPr>
              <a:t>Challenges:</a:t>
            </a:r>
            <a:endParaRPr lang="en-US" b="0" i="0" dirty="0">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Image quality variability.</a:t>
            </a: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Seasonal changes affect erosion patterns.</a:t>
            </a:r>
          </a:p>
          <a:p>
            <a:pPr algn="l">
              <a:lnSpc>
                <a:spcPts val="2143"/>
              </a:lnSpc>
              <a:spcBef>
                <a:spcPts val="300"/>
              </a:spcBef>
              <a:spcAft>
                <a:spcPts val="300"/>
              </a:spcAft>
              <a:buFont typeface="Arial" panose="020B0604020202020204" pitchFamily="34" charset="0"/>
              <a:buChar char="•"/>
            </a:pPr>
            <a:r>
              <a:rPr lang="en-US" b="1" i="0" dirty="0">
                <a:effectLst/>
                <a:latin typeface="DeepSeek-CJK-patch"/>
              </a:rPr>
              <a:t>Future Work:</a:t>
            </a:r>
            <a:endParaRPr lang="en-US" b="0" i="0" dirty="0">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Expand dataset.</a:t>
            </a: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Incorporate multi-temporal analysis.</a:t>
            </a:r>
          </a:p>
        </p:txBody>
      </p:sp>
    </p:spTree>
    <p:extLst>
      <p:ext uri="{BB962C8B-B14F-4D97-AF65-F5344CB8AC3E}">
        <p14:creationId xmlns:p14="http://schemas.microsoft.com/office/powerpoint/2010/main" val="379238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B42849-0BA2-9A9F-FAEE-6AE849CE4C5F}"/>
              </a:ext>
            </a:extLst>
          </p:cNvPr>
          <p:cNvSpPr txBox="1"/>
          <p:nvPr/>
        </p:nvSpPr>
        <p:spPr>
          <a:xfrm>
            <a:off x="3786809" y="876797"/>
            <a:ext cx="6102626" cy="4242187"/>
          </a:xfrm>
          <a:prstGeom prst="rect">
            <a:avLst/>
          </a:prstGeom>
          <a:noFill/>
        </p:spPr>
        <p:txBody>
          <a:bodyPr wrap="square">
            <a:spAutoFit/>
          </a:bodyPr>
          <a:lstStyle/>
          <a:p>
            <a:pPr algn="l">
              <a:spcBef>
                <a:spcPts val="1372"/>
              </a:spcBef>
              <a:spcAft>
                <a:spcPts val="1029"/>
              </a:spcAft>
              <a:buNone/>
            </a:pPr>
            <a:r>
              <a:rPr lang="en-US" b="1" i="0" dirty="0">
                <a:effectLst/>
                <a:latin typeface="DeepSeek-CJK-patch"/>
              </a:rPr>
              <a:t>Conclusion</a:t>
            </a:r>
            <a:endParaRPr lang="en-US" b="0" i="0" dirty="0">
              <a:effectLst/>
              <a:latin typeface="DeepSeek-CJK-patch"/>
            </a:endParaRPr>
          </a:p>
          <a:p>
            <a:pPr algn="l">
              <a:lnSpc>
                <a:spcPts val="2143"/>
              </a:lnSpc>
              <a:spcBef>
                <a:spcPts val="1029"/>
              </a:spcBef>
              <a:spcAft>
                <a:spcPts val="300"/>
              </a:spcAft>
              <a:buFont typeface="Arial" panose="020B0604020202020204" pitchFamily="34" charset="0"/>
              <a:buChar char="•"/>
            </a:pPr>
            <a:r>
              <a:rPr lang="en-US" b="1" i="0" dirty="0">
                <a:effectLst/>
                <a:latin typeface="DeepSeek-CJK-patch"/>
              </a:rPr>
              <a:t>Summary:</a:t>
            </a:r>
            <a:endParaRPr lang="en-US" b="0" i="0" dirty="0">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Automated, scalable solution for erosion detection.</a:t>
            </a: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High accuracy with </a:t>
            </a:r>
            <a:r>
              <a:rPr lang="en-US" b="0" i="0" dirty="0" err="1">
                <a:effectLst/>
                <a:latin typeface="DeepSeek-CJK-patch"/>
              </a:rPr>
              <a:t>XGBoost</a:t>
            </a:r>
            <a:r>
              <a:rPr lang="en-US" b="0" i="0" dirty="0">
                <a:effectLst/>
                <a:latin typeface="DeepSeek-CJK-patch"/>
              </a:rPr>
              <a:t>.</a:t>
            </a: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The project successfully created a model to detect riverbank erosion using aerial images and machine learning. It’s faster, scalable, and accurate. Future improvements include using data from different seasons and trying even better models.</a:t>
            </a:r>
          </a:p>
          <a:p>
            <a:pPr algn="l">
              <a:lnSpc>
                <a:spcPts val="2143"/>
              </a:lnSpc>
              <a:spcBef>
                <a:spcPts val="300"/>
              </a:spcBef>
              <a:spcAft>
                <a:spcPts val="300"/>
              </a:spcAft>
              <a:buFont typeface="Arial" panose="020B0604020202020204" pitchFamily="34" charset="0"/>
              <a:buChar char="•"/>
            </a:pPr>
            <a:r>
              <a:rPr lang="en-US" b="1" i="0" dirty="0">
                <a:effectLst/>
                <a:latin typeface="DeepSeek-CJK-patch"/>
              </a:rPr>
              <a:t>Impact:</a:t>
            </a:r>
            <a:endParaRPr lang="en-US" b="0" i="0" dirty="0">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US" b="0" i="0" dirty="0">
                <a:effectLst/>
                <a:latin typeface="DeepSeek-CJK-patch"/>
              </a:rPr>
              <a:t>Supports environmental management and policymaking</a:t>
            </a:r>
            <a:r>
              <a:rPr lang="en-US" b="0" i="0" dirty="0">
                <a:solidFill>
                  <a:srgbClr val="F8FAFF"/>
                </a:solidFill>
                <a:effectLst/>
                <a:latin typeface="DeepSeek-CJK-patch"/>
              </a:rPr>
              <a:t>.</a:t>
            </a:r>
          </a:p>
        </p:txBody>
      </p:sp>
    </p:spTree>
    <p:extLst>
      <p:ext uri="{BB962C8B-B14F-4D97-AF65-F5344CB8AC3E}">
        <p14:creationId xmlns:p14="http://schemas.microsoft.com/office/powerpoint/2010/main" val="57550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C858C2-F76C-08BC-22C7-AB405C9704A3}"/>
              </a:ext>
            </a:extLst>
          </p:cNvPr>
          <p:cNvSpPr txBox="1"/>
          <p:nvPr/>
        </p:nvSpPr>
        <p:spPr>
          <a:xfrm>
            <a:off x="3051313" y="2146437"/>
            <a:ext cx="6102626" cy="2575064"/>
          </a:xfrm>
          <a:prstGeom prst="rect">
            <a:avLst/>
          </a:prstGeom>
          <a:noFill/>
        </p:spPr>
        <p:txBody>
          <a:bodyPr wrap="square">
            <a:spAutoFit/>
          </a:bodyPr>
          <a:lstStyle/>
          <a:p>
            <a:pPr algn="l">
              <a:spcBef>
                <a:spcPts val="1372"/>
              </a:spcBef>
              <a:spcAft>
                <a:spcPts val="1029"/>
              </a:spcAft>
              <a:buNone/>
            </a:pPr>
            <a:r>
              <a:rPr lang="en-IN" b="1" i="0" dirty="0">
                <a:effectLst/>
                <a:latin typeface="DeepSeek-CJK-patch"/>
              </a:rPr>
              <a:t> References</a:t>
            </a:r>
            <a:endParaRPr lang="en-IN" b="0" i="0" dirty="0">
              <a:effectLst/>
              <a:latin typeface="DeepSeek-CJK-patch"/>
            </a:endParaRPr>
          </a:p>
          <a:p>
            <a:pPr algn="l">
              <a:lnSpc>
                <a:spcPts val="2143"/>
              </a:lnSpc>
              <a:spcBef>
                <a:spcPts val="1029"/>
              </a:spcBef>
              <a:spcAft>
                <a:spcPts val="1029"/>
              </a:spcAft>
              <a:buFont typeface="+mj-lt"/>
              <a:buAutoNum type="arabicPeriod"/>
            </a:pPr>
            <a:r>
              <a:rPr lang="en-IN" b="0" i="0" dirty="0">
                <a:effectLst/>
                <a:latin typeface="DeepSeek-CJK-patch"/>
              </a:rPr>
              <a:t>Smith et al. (2018). </a:t>
            </a:r>
            <a:r>
              <a:rPr lang="en-IN" b="0" i="1" dirty="0">
                <a:effectLst/>
                <a:latin typeface="DeepSeek-CJK-patch"/>
              </a:rPr>
              <a:t>Remote Sensing Techniques in Riverbank Erosion Analysis.</a:t>
            </a:r>
            <a:endParaRPr lang="en-IN" b="0" i="0" dirty="0">
              <a:effectLst/>
              <a:latin typeface="DeepSeek-CJK-patch"/>
            </a:endParaRPr>
          </a:p>
          <a:p>
            <a:pPr algn="l">
              <a:lnSpc>
                <a:spcPts val="2143"/>
              </a:lnSpc>
              <a:spcBef>
                <a:spcPts val="300"/>
              </a:spcBef>
              <a:spcAft>
                <a:spcPts val="1029"/>
              </a:spcAft>
              <a:buFont typeface="+mj-lt"/>
              <a:buAutoNum type="arabicPeriod"/>
            </a:pPr>
            <a:r>
              <a:rPr lang="en-IN" b="0" i="0" dirty="0">
                <a:effectLst/>
                <a:latin typeface="DeepSeek-CJK-patch"/>
              </a:rPr>
              <a:t>Doe et al. (2020). </a:t>
            </a:r>
            <a:r>
              <a:rPr lang="en-IN" b="0" i="1" dirty="0">
                <a:effectLst/>
                <a:latin typeface="DeepSeek-CJK-patch"/>
              </a:rPr>
              <a:t>Application of CNNs in Environmental Monitoring.</a:t>
            </a:r>
            <a:endParaRPr lang="en-IN" b="0" i="0" dirty="0">
              <a:effectLst/>
              <a:latin typeface="DeepSeek-CJK-patch"/>
            </a:endParaRPr>
          </a:p>
          <a:p>
            <a:pPr algn="l">
              <a:lnSpc>
                <a:spcPts val="2143"/>
              </a:lnSpc>
              <a:spcBef>
                <a:spcPts val="300"/>
              </a:spcBef>
              <a:spcAft>
                <a:spcPts val="1029"/>
              </a:spcAft>
              <a:buFont typeface="+mj-lt"/>
              <a:buAutoNum type="arabicPeriod"/>
            </a:pPr>
            <a:r>
              <a:rPr lang="en-IN" b="0" i="0" dirty="0">
                <a:effectLst/>
                <a:latin typeface="DeepSeek-CJK-patch"/>
              </a:rPr>
              <a:t>Lee et al. (2019). </a:t>
            </a:r>
            <a:r>
              <a:rPr lang="en-IN" b="0" i="1" dirty="0">
                <a:effectLst/>
                <a:latin typeface="DeepSeek-CJK-patch"/>
              </a:rPr>
              <a:t>Advances in Multispectral and LIDAR-Based River Analysis.</a:t>
            </a:r>
            <a:endParaRPr lang="en-IN" b="0" i="0" dirty="0">
              <a:effectLst/>
              <a:latin typeface="DeepSeek-CJK-patch"/>
            </a:endParaRPr>
          </a:p>
        </p:txBody>
      </p:sp>
    </p:spTree>
    <p:extLst>
      <p:ext uri="{BB962C8B-B14F-4D97-AF65-F5344CB8AC3E}">
        <p14:creationId xmlns:p14="http://schemas.microsoft.com/office/powerpoint/2010/main" val="1033430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74C93A-53EF-3B7D-4A9A-68EB09483CD5}"/>
              </a:ext>
            </a:extLst>
          </p:cNvPr>
          <p:cNvSpPr txBox="1"/>
          <p:nvPr/>
        </p:nvSpPr>
        <p:spPr>
          <a:xfrm>
            <a:off x="2820837" y="2225616"/>
            <a:ext cx="6383547" cy="1107996"/>
          </a:xfrm>
          <a:prstGeom prst="rect">
            <a:avLst/>
          </a:prstGeom>
          <a:noFill/>
        </p:spPr>
        <p:txBody>
          <a:bodyPr wrap="square" rtlCol="0">
            <a:spAutoFit/>
          </a:bodyPr>
          <a:lstStyle/>
          <a:p>
            <a:r>
              <a:rPr lang="en-US" sz="6600" dirty="0">
                <a:latin typeface="Times New Roman" panose="02020603050405020304" pitchFamily="18" charset="0"/>
                <a:cs typeface="Times New Roman" panose="02020603050405020304" pitchFamily="18" charset="0"/>
              </a:rPr>
              <a:t>THANK YOU😊</a:t>
            </a:r>
            <a:endParaRPr lang="en-IN" sz="6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757994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345</TotalTime>
  <Words>540</Words>
  <Application>Microsoft Office PowerPoint</Application>
  <PresentationFormat>Widescreen</PresentationFormat>
  <Paragraphs>72</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DeepSeek-CJK-patch</vt:lpstr>
      <vt:lpstr>Gill Sans MT</vt:lpstr>
      <vt:lpstr>Times New Roman</vt:lpstr>
      <vt:lpstr>Gallery</vt:lpstr>
      <vt:lpstr>PowerPoint Presentation</vt:lpstr>
      <vt:lpstr>TOPIC-: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Ekshin Gurramkonda</dc:creator>
  <cp:lastModifiedBy>John Victor Chavala</cp:lastModifiedBy>
  <cp:revision>2</cp:revision>
  <dcterms:created xsi:type="dcterms:W3CDTF">2025-04-01T12:07:09Z</dcterms:created>
  <dcterms:modified xsi:type="dcterms:W3CDTF">2025-04-09T08:40:01Z</dcterms:modified>
</cp:coreProperties>
</file>